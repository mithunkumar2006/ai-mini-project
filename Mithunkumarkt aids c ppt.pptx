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9" r:id="rId4"/>
    <p:sldId id="260" r:id="rId5"/>
    <p:sldId id="258"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700" y="4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EF56DB-6447-4E9A-8D0B-327B958AB26D}" type="datetimeFigureOut">
              <a:rPr lang="en-US" smtClean="0"/>
              <a:t>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476D98-D61B-4655-9F07-885518B2E134}" type="slidenum">
              <a:rPr lang="en-US" smtClean="0"/>
              <a:t>‹#›</a:t>
            </a:fld>
            <a:endParaRPr lang="en-US"/>
          </a:p>
        </p:txBody>
      </p:sp>
    </p:spTree>
    <p:extLst>
      <p:ext uri="{BB962C8B-B14F-4D97-AF65-F5344CB8AC3E}">
        <p14:creationId xmlns:p14="http://schemas.microsoft.com/office/powerpoint/2010/main" val="905179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2F0ED-5252-4C0D-3BA2-BA6ECDF907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F6E366-4DE2-8E81-1DC3-0AEE197AF6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C19ECA-A45F-0986-41DE-E73470F3D075}"/>
              </a:ext>
            </a:extLst>
          </p:cNvPr>
          <p:cNvSpPr>
            <a:spLocks noGrp="1"/>
          </p:cNvSpPr>
          <p:nvPr>
            <p:ph type="dt" sz="half" idx="10"/>
          </p:nvPr>
        </p:nvSpPr>
        <p:spPr/>
        <p:txBody>
          <a:bodyPr/>
          <a:lstStyle/>
          <a:p>
            <a:fld id="{36A8A127-BB09-41A4-B1CB-CF09F8E9604A}" type="datetime1">
              <a:rPr lang="en-US" smtClean="0"/>
              <a:t>11/2/2025</a:t>
            </a:fld>
            <a:endParaRPr lang="en-US"/>
          </a:p>
        </p:txBody>
      </p:sp>
      <p:sp>
        <p:nvSpPr>
          <p:cNvPr id="5" name="Footer Placeholder 4">
            <a:extLst>
              <a:ext uri="{FF2B5EF4-FFF2-40B4-BE49-F238E27FC236}">
                <a16:creationId xmlns:a16="http://schemas.microsoft.com/office/drawing/2014/main" id="{246DC80E-2DDD-1136-4BC6-B4406DBF7B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C6432E-64B5-4716-F794-CD0C848FE6AA}"/>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144428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75F44-3844-F881-3DC9-E55F3A5BB2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B5DD6E-70DC-EC37-F363-8CA0371D48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884CC4-4338-D905-6FCE-6141610CE918}"/>
              </a:ext>
            </a:extLst>
          </p:cNvPr>
          <p:cNvSpPr>
            <a:spLocks noGrp="1"/>
          </p:cNvSpPr>
          <p:nvPr>
            <p:ph type="dt" sz="half" idx="10"/>
          </p:nvPr>
        </p:nvSpPr>
        <p:spPr/>
        <p:txBody>
          <a:bodyPr/>
          <a:lstStyle/>
          <a:p>
            <a:fld id="{42A9C543-C1A5-4BB5-A80B-9531F5C51CEB}" type="datetime1">
              <a:rPr lang="en-US" smtClean="0"/>
              <a:t>11/2/2025</a:t>
            </a:fld>
            <a:endParaRPr lang="en-US"/>
          </a:p>
        </p:txBody>
      </p:sp>
      <p:sp>
        <p:nvSpPr>
          <p:cNvPr id="5" name="Footer Placeholder 4">
            <a:extLst>
              <a:ext uri="{FF2B5EF4-FFF2-40B4-BE49-F238E27FC236}">
                <a16:creationId xmlns:a16="http://schemas.microsoft.com/office/drawing/2014/main" id="{AD46F4CB-E19E-BF21-CA04-20FBF9E0B0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C561CA-A7D9-921E-283C-D2D26EC9D33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3855382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F0DB8-4328-6842-4C20-194E16496B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1C16DD-B055-C373-DB9C-1095E3A7F6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308B3A-5B20-B104-4DC9-F294FE85DC4F}"/>
              </a:ext>
            </a:extLst>
          </p:cNvPr>
          <p:cNvSpPr>
            <a:spLocks noGrp="1"/>
          </p:cNvSpPr>
          <p:nvPr>
            <p:ph type="dt" sz="half" idx="10"/>
          </p:nvPr>
        </p:nvSpPr>
        <p:spPr/>
        <p:txBody>
          <a:bodyPr/>
          <a:lstStyle/>
          <a:p>
            <a:fld id="{85DB2ABE-BEC8-4A12-8AF2-3E9347C9F9C5}" type="datetime1">
              <a:rPr lang="en-US" smtClean="0"/>
              <a:t>11/2/2025</a:t>
            </a:fld>
            <a:endParaRPr lang="en-US"/>
          </a:p>
        </p:txBody>
      </p:sp>
      <p:sp>
        <p:nvSpPr>
          <p:cNvPr id="5" name="Footer Placeholder 4">
            <a:extLst>
              <a:ext uri="{FF2B5EF4-FFF2-40B4-BE49-F238E27FC236}">
                <a16:creationId xmlns:a16="http://schemas.microsoft.com/office/drawing/2014/main" id="{242F6EF1-C2BF-E0B8-5AD2-1E80894A92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3C3E5B-79C1-F551-EB78-424972E416AB}"/>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362975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FA2CF-D4B2-C0EA-7D8B-9997981DFC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8EC816-FAB0-61B5-B8A9-3CEEDE3AC6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6888030-9606-40F3-F568-569861E67B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26BC2E-18CA-513E-BBD3-A4A6A46824FE}"/>
              </a:ext>
            </a:extLst>
          </p:cNvPr>
          <p:cNvSpPr>
            <a:spLocks noGrp="1"/>
          </p:cNvSpPr>
          <p:nvPr>
            <p:ph type="dt" sz="half" idx="10"/>
          </p:nvPr>
        </p:nvSpPr>
        <p:spPr/>
        <p:txBody>
          <a:bodyPr/>
          <a:lstStyle/>
          <a:p>
            <a:fld id="{E457CA91-FD83-4EFE-93EA-63992C03614F}" type="datetime1">
              <a:rPr lang="en-US" smtClean="0"/>
              <a:t>11/2/2025</a:t>
            </a:fld>
            <a:endParaRPr lang="en-US"/>
          </a:p>
        </p:txBody>
      </p:sp>
      <p:sp>
        <p:nvSpPr>
          <p:cNvPr id="6" name="Footer Placeholder 5">
            <a:extLst>
              <a:ext uri="{FF2B5EF4-FFF2-40B4-BE49-F238E27FC236}">
                <a16:creationId xmlns:a16="http://schemas.microsoft.com/office/drawing/2014/main" id="{7610C424-8EE7-DCF3-92CA-9943CA217B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B02771-6578-A3F3-2DE5-957F26935FA9}"/>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1846501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A56EB-15F3-DA5A-FC5F-C8A9854DFC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4F55B3-769C-0F68-56E4-09A31651F0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9390E3-482E-14E5-E93E-3EFDFCA024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5F7FD4-A0A2-100E-247B-0439DA6A8E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B19785-7F9E-F7E7-9989-FBA2A2436A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99BF4CB-4B11-6795-84C1-91B139428AEE}"/>
              </a:ext>
            </a:extLst>
          </p:cNvPr>
          <p:cNvSpPr>
            <a:spLocks noGrp="1"/>
          </p:cNvSpPr>
          <p:nvPr>
            <p:ph type="dt" sz="half" idx="10"/>
          </p:nvPr>
        </p:nvSpPr>
        <p:spPr/>
        <p:txBody>
          <a:bodyPr/>
          <a:lstStyle/>
          <a:p>
            <a:fld id="{07D6C43A-13E2-48A2-BAE5-CC73887FC199}" type="datetime1">
              <a:rPr lang="en-US" smtClean="0"/>
              <a:t>11/2/2025</a:t>
            </a:fld>
            <a:endParaRPr lang="en-US"/>
          </a:p>
        </p:txBody>
      </p:sp>
      <p:sp>
        <p:nvSpPr>
          <p:cNvPr id="8" name="Footer Placeholder 7">
            <a:extLst>
              <a:ext uri="{FF2B5EF4-FFF2-40B4-BE49-F238E27FC236}">
                <a16:creationId xmlns:a16="http://schemas.microsoft.com/office/drawing/2014/main" id="{F52FCB82-5972-D333-E21C-DF24F6BCF49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F12211A-324E-9069-32B0-8F509730AD76}"/>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3342088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0A965-A2B0-80BB-C6BA-CCCFA272AE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0A2016-FBBB-4A1F-6F9E-FE6A63DE4832}"/>
              </a:ext>
            </a:extLst>
          </p:cNvPr>
          <p:cNvSpPr>
            <a:spLocks noGrp="1"/>
          </p:cNvSpPr>
          <p:nvPr>
            <p:ph type="dt" sz="half" idx="10"/>
          </p:nvPr>
        </p:nvSpPr>
        <p:spPr/>
        <p:txBody>
          <a:bodyPr/>
          <a:lstStyle/>
          <a:p>
            <a:fld id="{4EA2C5D3-416C-4131-8BC9-E71DA97D5A64}" type="datetime1">
              <a:rPr lang="en-US" smtClean="0"/>
              <a:t>11/2/2025</a:t>
            </a:fld>
            <a:endParaRPr lang="en-US"/>
          </a:p>
        </p:txBody>
      </p:sp>
      <p:sp>
        <p:nvSpPr>
          <p:cNvPr id="4" name="Footer Placeholder 3">
            <a:extLst>
              <a:ext uri="{FF2B5EF4-FFF2-40B4-BE49-F238E27FC236}">
                <a16:creationId xmlns:a16="http://schemas.microsoft.com/office/drawing/2014/main" id="{EBE845DF-F961-5466-32C3-C6385060CC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E057F6-928A-6D9F-4161-C04DEAA83D65}"/>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075974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B366D7-6680-4FD6-C029-DC5C0BB2354F}"/>
              </a:ext>
            </a:extLst>
          </p:cNvPr>
          <p:cNvSpPr>
            <a:spLocks noGrp="1"/>
          </p:cNvSpPr>
          <p:nvPr>
            <p:ph type="dt" sz="half" idx="10"/>
          </p:nvPr>
        </p:nvSpPr>
        <p:spPr/>
        <p:txBody>
          <a:bodyPr/>
          <a:lstStyle/>
          <a:p>
            <a:fld id="{B8971593-8386-48B7-BB85-87C0949B2086}" type="datetime1">
              <a:rPr lang="en-US" smtClean="0"/>
              <a:t>11/2/2025</a:t>
            </a:fld>
            <a:endParaRPr lang="en-US"/>
          </a:p>
        </p:txBody>
      </p:sp>
      <p:sp>
        <p:nvSpPr>
          <p:cNvPr id="3" name="Footer Placeholder 2">
            <a:extLst>
              <a:ext uri="{FF2B5EF4-FFF2-40B4-BE49-F238E27FC236}">
                <a16:creationId xmlns:a16="http://schemas.microsoft.com/office/drawing/2014/main" id="{94179984-8567-91CB-0310-29A3752B78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22C7A0D-606C-3BF9-8DBE-908D80966AD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799376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684C1-8596-31A1-180D-C7EC5332BB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13762C2-B7CC-ADA3-9D39-3541B3FE5A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35A5F9-7E68-401F-C3BB-09FB74F82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5F73E6-ECB8-2943-41D8-05812D848AD3}"/>
              </a:ext>
            </a:extLst>
          </p:cNvPr>
          <p:cNvSpPr>
            <a:spLocks noGrp="1"/>
          </p:cNvSpPr>
          <p:nvPr>
            <p:ph type="dt" sz="half" idx="10"/>
          </p:nvPr>
        </p:nvSpPr>
        <p:spPr/>
        <p:txBody>
          <a:bodyPr/>
          <a:lstStyle/>
          <a:p>
            <a:fld id="{3070F398-88D3-4D2F-9F7E-785BF8AD0274}" type="datetime1">
              <a:rPr lang="en-US" smtClean="0"/>
              <a:t>11/2/2025</a:t>
            </a:fld>
            <a:endParaRPr lang="en-US"/>
          </a:p>
        </p:txBody>
      </p:sp>
      <p:sp>
        <p:nvSpPr>
          <p:cNvPr id="6" name="Footer Placeholder 5">
            <a:extLst>
              <a:ext uri="{FF2B5EF4-FFF2-40B4-BE49-F238E27FC236}">
                <a16:creationId xmlns:a16="http://schemas.microsoft.com/office/drawing/2014/main" id="{D86B5AF7-95CA-05D2-1119-F667C7B6F8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599C23-C916-AE53-9371-42CF3819D0E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1574991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9AC56-39A4-2278-722C-617F9F770A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FAD1B2-1942-74FB-C400-0DB0C13B90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DA8F38-E9BE-47E4-7662-3CD4AECCB2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28AE0B-2CCA-EDA3-1B80-8F2E1DF84CA6}"/>
              </a:ext>
            </a:extLst>
          </p:cNvPr>
          <p:cNvSpPr>
            <a:spLocks noGrp="1"/>
          </p:cNvSpPr>
          <p:nvPr>
            <p:ph type="dt" sz="half" idx="10"/>
          </p:nvPr>
        </p:nvSpPr>
        <p:spPr/>
        <p:txBody>
          <a:bodyPr/>
          <a:lstStyle/>
          <a:p>
            <a:fld id="{CE1A94C1-07AC-4775-8A4F-70BB05306BF7}" type="datetime1">
              <a:rPr lang="en-US" smtClean="0"/>
              <a:t>11/2/2025</a:t>
            </a:fld>
            <a:endParaRPr lang="en-US"/>
          </a:p>
        </p:txBody>
      </p:sp>
      <p:sp>
        <p:nvSpPr>
          <p:cNvPr id="6" name="Footer Placeholder 5">
            <a:extLst>
              <a:ext uri="{FF2B5EF4-FFF2-40B4-BE49-F238E27FC236}">
                <a16:creationId xmlns:a16="http://schemas.microsoft.com/office/drawing/2014/main" id="{2FDB1342-9AFD-57F0-2E90-76ECCEAFA3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E180B8-E20A-6138-1A1C-1E980CAD40A5}"/>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969494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050B6-05B4-E3FE-22C0-B823946C34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34B519-CE0F-EF5E-0363-067F1B0DB1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E2CA70-5E41-1433-D1D4-58B7EECA7D33}"/>
              </a:ext>
            </a:extLst>
          </p:cNvPr>
          <p:cNvSpPr>
            <a:spLocks noGrp="1"/>
          </p:cNvSpPr>
          <p:nvPr>
            <p:ph type="dt" sz="half" idx="10"/>
          </p:nvPr>
        </p:nvSpPr>
        <p:spPr/>
        <p:txBody>
          <a:bodyPr/>
          <a:lstStyle/>
          <a:p>
            <a:fld id="{850BF149-3A71-4B38-9BDE-7A4D7C7AB1AD}" type="datetime1">
              <a:rPr lang="en-US" smtClean="0"/>
              <a:t>11/2/2025</a:t>
            </a:fld>
            <a:endParaRPr lang="en-US"/>
          </a:p>
        </p:txBody>
      </p:sp>
      <p:sp>
        <p:nvSpPr>
          <p:cNvPr id="5" name="Footer Placeholder 4">
            <a:extLst>
              <a:ext uri="{FF2B5EF4-FFF2-40B4-BE49-F238E27FC236}">
                <a16:creationId xmlns:a16="http://schemas.microsoft.com/office/drawing/2014/main" id="{4A27E013-1DD3-69EC-2DB2-F95CD3491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12FAA7-8459-22BB-DD92-45D2DCDBB7A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84219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65F096-56EB-9C2E-FB81-FEE0A0CAD97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2D9855-6F39-E67A-6BE9-0AC527E972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113E1-9951-703E-A152-D5CEEC0EEDDB}"/>
              </a:ext>
            </a:extLst>
          </p:cNvPr>
          <p:cNvSpPr>
            <a:spLocks noGrp="1"/>
          </p:cNvSpPr>
          <p:nvPr>
            <p:ph type="dt" sz="half" idx="10"/>
          </p:nvPr>
        </p:nvSpPr>
        <p:spPr/>
        <p:txBody>
          <a:bodyPr/>
          <a:lstStyle/>
          <a:p>
            <a:fld id="{25415CF1-83E4-4056-B983-BD617F30DAFA}" type="datetime1">
              <a:rPr lang="en-US" smtClean="0"/>
              <a:t>11/2/2025</a:t>
            </a:fld>
            <a:endParaRPr lang="en-US"/>
          </a:p>
        </p:txBody>
      </p:sp>
      <p:sp>
        <p:nvSpPr>
          <p:cNvPr id="5" name="Footer Placeholder 4">
            <a:extLst>
              <a:ext uri="{FF2B5EF4-FFF2-40B4-BE49-F238E27FC236}">
                <a16:creationId xmlns:a16="http://schemas.microsoft.com/office/drawing/2014/main" id="{A7463D87-637E-E53B-45EF-5E53B2925E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5677AB-ED08-1C04-AEC4-B8B3B85BC40F}"/>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996424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4DB59C-E06D-9064-D0E9-EE878347C8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3B2644-B987-EA40-64D1-C253A45B0A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BC9483-BDE6-AF2E-5EF6-5FD8C63DA8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FA37CB-3111-4E43-978B-840B0C3E984E}" type="datetime1">
              <a:rPr lang="en-US" smtClean="0"/>
              <a:t>11/2/2025</a:t>
            </a:fld>
            <a:endParaRPr lang="en-US"/>
          </a:p>
        </p:txBody>
      </p:sp>
      <p:sp>
        <p:nvSpPr>
          <p:cNvPr id="5" name="Footer Placeholder 4">
            <a:extLst>
              <a:ext uri="{FF2B5EF4-FFF2-40B4-BE49-F238E27FC236}">
                <a16:creationId xmlns:a16="http://schemas.microsoft.com/office/drawing/2014/main" id="{E6345DA1-9E37-8BE4-5FD8-3086239736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9C78D0E-8A6B-A368-9312-1F3C29DDBA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CEF87E-815D-44D1-B0AB-39AF0402D6A8}" type="slidenum">
              <a:rPr lang="en-US" smtClean="0"/>
              <a:t>‹#›</a:t>
            </a:fld>
            <a:endParaRPr lang="en-US"/>
          </a:p>
        </p:txBody>
      </p:sp>
    </p:spTree>
    <p:extLst>
      <p:ext uri="{BB962C8B-B14F-4D97-AF65-F5344CB8AC3E}">
        <p14:creationId xmlns:p14="http://schemas.microsoft.com/office/powerpoint/2010/main" val="36965271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OneDrive/Documents/kamaleshwaran%20aids%20c%20mp.pdf" TargetMode="External"/><Relationship Id="rId2" Type="http://schemas.openxmlformats.org/officeDocument/2006/relationships/hyperlink" Target="../../../../../../../OneDrive/Documents/Mithunkumar%20aids%20c%20mp.docx" TargetMode="External"/><Relationship Id="rId1" Type="http://schemas.openxmlformats.org/officeDocument/2006/relationships/slideLayout" Target="../slideLayouts/slideLayout2.xml"/><Relationship Id="rId4" Type="http://schemas.openxmlformats.org/officeDocument/2006/relationships/hyperlink" Target="../../../../../../../OneDrive/Pictures/Screenshots/Screenshot%202025-11-02%20102018.png"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scikit-learn.or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F15FA6-086D-491A-B175-0CA4656FBDCB}"/>
              </a:ext>
            </a:extLst>
          </p:cNvPr>
          <p:cNvPicPr/>
          <p:nvPr/>
        </p:nvPicPr>
        <p:blipFill>
          <a:blip r:embed="rId2" cstate="print"/>
          <a:srcRect l="21229" t="27213" r="21523" b="35253"/>
          <a:stretch>
            <a:fillRect/>
          </a:stretch>
        </p:blipFill>
        <p:spPr bwMode="auto">
          <a:xfrm>
            <a:off x="3256548" y="136525"/>
            <a:ext cx="4776536" cy="834189"/>
          </a:xfrm>
          <a:prstGeom prst="rect">
            <a:avLst/>
          </a:prstGeom>
          <a:ln>
            <a:headEnd/>
            <a:tailEnd type="none" w="med" len="med"/>
          </a:ln>
        </p:spPr>
        <p:style>
          <a:lnRef idx="1">
            <a:schemeClr val="accent2"/>
          </a:lnRef>
          <a:fillRef idx="3">
            <a:schemeClr val="accent2"/>
          </a:fillRef>
          <a:effectRef idx="2">
            <a:schemeClr val="accent2"/>
          </a:effectRef>
          <a:fontRef idx="minor">
            <a:schemeClr val="lt1"/>
          </a:fontRef>
        </p:style>
      </p:pic>
      <p:sp>
        <p:nvSpPr>
          <p:cNvPr id="7" name="Title 6">
            <a:extLst>
              <a:ext uri="{FF2B5EF4-FFF2-40B4-BE49-F238E27FC236}">
                <a16:creationId xmlns:a16="http://schemas.microsoft.com/office/drawing/2014/main" id="{5BEE647A-5606-A6E5-93DB-A43A8FC2D88A}"/>
              </a:ext>
            </a:extLst>
          </p:cNvPr>
          <p:cNvSpPr>
            <a:spLocks noGrp="1"/>
          </p:cNvSpPr>
          <p:nvPr>
            <p:ph type="ctrTitle"/>
          </p:nvPr>
        </p:nvSpPr>
        <p:spPr>
          <a:xfrm>
            <a:off x="433138" y="1251284"/>
            <a:ext cx="10812378" cy="2458586"/>
          </a:xfrm>
        </p:spPr>
        <p:txBody>
          <a:bodyPr>
            <a:noAutofit/>
          </a:bodyPr>
          <a:lstStyle/>
          <a:p>
            <a:r>
              <a:rPr lang="en-GB" sz="2400" b="1" dirty="0">
                <a:latin typeface="Times New Roman" panose="02020603050405020304" pitchFamily="18" charset="0"/>
                <a:cs typeface="Times New Roman" panose="02020603050405020304" pitchFamily="18" charset="0"/>
              </a:rPr>
              <a:t>DEPARTMENT OF</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ARTIFICIAL INTELLIGENCE AND DATA SCIENCE</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ACADEMIC YEAR 2025 - 2026</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SEMESTER III</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ARTIFICIAL INTELLIGENCE LABORATORY</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	</a:t>
            </a:r>
            <a:r>
              <a:rPr lang="en-GB" sz="2400" b="1" dirty="0">
                <a:solidFill>
                  <a:srgbClr val="002060"/>
                </a:solidFill>
                <a:latin typeface="Times New Roman" panose="02020603050405020304" pitchFamily="18" charset="0"/>
                <a:cs typeface="Times New Roman" panose="02020603050405020304" pitchFamily="18" charset="0"/>
              </a:rPr>
              <a:t>MINI PROJECT REVIEW</a:t>
            </a:r>
            <a:r>
              <a:rPr lang="en-GB" sz="2400" dirty="0">
                <a:solidFill>
                  <a:srgbClr val="002060"/>
                </a:solidFill>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b="1" dirty="0" smtClean="0">
                <a:solidFill>
                  <a:srgbClr val="FF0000"/>
                </a:solidFill>
                <a:latin typeface="Times New Roman" panose="02020603050405020304" pitchFamily="18" charset="0"/>
                <a:cs typeface="Times New Roman" panose="02020603050405020304" pitchFamily="18" charset="0"/>
              </a:rPr>
              <a:t>STUDENT PERFORMANCE PREDICTION</a:t>
            </a:r>
            <a:endParaRPr lang="en-US" sz="24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B39E0012-B3AF-E718-6BBA-5D37629E4005}"/>
              </a:ext>
            </a:extLst>
          </p:cNvPr>
          <p:cNvGraphicFramePr>
            <a:graphicFrameLocks noGrp="1"/>
          </p:cNvGraphicFramePr>
          <p:nvPr>
            <p:extLst>
              <p:ext uri="{D42A27DB-BD31-4B8C-83A1-F6EECF244321}">
                <p14:modId xmlns:p14="http://schemas.microsoft.com/office/powerpoint/2010/main" val="3881536678"/>
              </p:ext>
            </p:extLst>
          </p:nvPr>
        </p:nvGraphicFramePr>
        <p:xfrm>
          <a:off x="2098841" y="3845961"/>
          <a:ext cx="8392696" cy="2458586"/>
        </p:xfrm>
        <a:graphic>
          <a:graphicData uri="http://schemas.openxmlformats.org/drawingml/2006/table">
            <a:tbl>
              <a:tblPr firstRow="1" bandRow="1">
                <a:tableStyleId>{21E4AEA4-8DFA-4A89-87EB-49C32662AFE0}</a:tableStyleId>
              </a:tblPr>
              <a:tblGrid>
                <a:gridCol w="2216485">
                  <a:extLst>
                    <a:ext uri="{9D8B030D-6E8A-4147-A177-3AD203B41FA5}">
                      <a16:colId xmlns:a16="http://schemas.microsoft.com/office/drawing/2014/main" val="1924387309"/>
                    </a:ext>
                  </a:extLst>
                </a:gridCol>
                <a:gridCol w="6176211">
                  <a:extLst>
                    <a:ext uri="{9D8B030D-6E8A-4147-A177-3AD203B41FA5}">
                      <a16:colId xmlns:a16="http://schemas.microsoft.com/office/drawing/2014/main" val="471423325"/>
                    </a:ext>
                  </a:extLst>
                </a:gridCol>
              </a:tblGrid>
              <a:tr h="486314">
                <a:tc>
                  <a:txBody>
                    <a:bodyPr/>
                    <a:lstStyle/>
                    <a:p>
                      <a:r>
                        <a:rPr lang="en-GB" b="1" dirty="0">
                          <a:solidFill>
                            <a:schemeClr val="tx1"/>
                          </a:solidFill>
                        </a:rPr>
                        <a:t>REGISTER NUMBER</a:t>
                      </a:r>
                      <a:endParaRPr lang="en-US" b="1" dirty="0">
                        <a:solidFill>
                          <a:schemeClr val="tx1"/>
                        </a:solidFill>
                      </a:endParaRPr>
                    </a:p>
                  </a:txBody>
                  <a:tcPr/>
                </a:tc>
                <a:tc>
                  <a:txBody>
                    <a:bodyPr/>
                    <a:lstStyle/>
                    <a:p>
                      <a:r>
                        <a:rPr lang="en-US" dirty="0" smtClean="0"/>
                        <a:t>2117240070185</a:t>
                      </a:r>
                      <a:endParaRPr lang="en-US" dirty="0"/>
                    </a:p>
                  </a:txBody>
                  <a:tcPr/>
                </a:tc>
                <a:extLst>
                  <a:ext uri="{0D108BD9-81ED-4DB2-BD59-A6C34878D82A}">
                    <a16:rowId xmlns:a16="http://schemas.microsoft.com/office/drawing/2014/main" val="471703413"/>
                  </a:ext>
                </a:extLst>
              </a:tr>
              <a:tr h="493068">
                <a:tc>
                  <a:txBody>
                    <a:bodyPr/>
                    <a:lstStyle/>
                    <a:p>
                      <a:r>
                        <a:rPr lang="en-GB" b="1" dirty="0">
                          <a:solidFill>
                            <a:schemeClr val="tx1"/>
                          </a:solidFill>
                        </a:rPr>
                        <a:t>NAME</a:t>
                      </a:r>
                      <a:endParaRPr lang="en-US" b="1" dirty="0">
                        <a:solidFill>
                          <a:schemeClr val="tx1"/>
                        </a:solidFill>
                      </a:endParaRPr>
                    </a:p>
                  </a:txBody>
                  <a:tcPr/>
                </a:tc>
                <a:tc>
                  <a:txBody>
                    <a:bodyPr/>
                    <a:lstStyle/>
                    <a:p>
                      <a:r>
                        <a:rPr lang="en-US" dirty="0" smtClean="0"/>
                        <a:t>MITHUNKUMAR</a:t>
                      </a:r>
                      <a:r>
                        <a:rPr lang="en-US" baseline="0" dirty="0" smtClean="0"/>
                        <a:t> KT</a:t>
                      </a:r>
                      <a:endParaRPr lang="en-US" dirty="0"/>
                    </a:p>
                  </a:txBody>
                  <a:tcPr/>
                </a:tc>
                <a:extLst>
                  <a:ext uri="{0D108BD9-81ED-4DB2-BD59-A6C34878D82A}">
                    <a16:rowId xmlns:a16="http://schemas.microsoft.com/office/drawing/2014/main" val="2967366592"/>
                  </a:ext>
                </a:extLst>
              </a:tr>
              <a:tr h="493068">
                <a:tc>
                  <a:txBody>
                    <a:bodyPr/>
                    <a:lstStyle/>
                    <a:p>
                      <a:r>
                        <a:rPr lang="en-GB" b="1" dirty="0">
                          <a:solidFill>
                            <a:schemeClr val="tx1"/>
                          </a:solidFill>
                        </a:rPr>
                        <a:t>YEAR</a:t>
                      </a:r>
                      <a:endParaRPr lang="en-US" b="1" dirty="0">
                        <a:solidFill>
                          <a:schemeClr val="tx1"/>
                        </a:solidFill>
                      </a:endParaRPr>
                    </a:p>
                  </a:txBody>
                  <a:tcPr/>
                </a:tc>
                <a:tc>
                  <a:txBody>
                    <a:bodyPr/>
                    <a:lstStyle/>
                    <a:p>
                      <a:r>
                        <a:rPr lang="en-US" dirty="0" smtClean="0"/>
                        <a:t>II</a:t>
                      </a:r>
                      <a:endParaRPr lang="en-US" dirty="0"/>
                    </a:p>
                  </a:txBody>
                  <a:tcPr/>
                </a:tc>
                <a:extLst>
                  <a:ext uri="{0D108BD9-81ED-4DB2-BD59-A6C34878D82A}">
                    <a16:rowId xmlns:a16="http://schemas.microsoft.com/office/drawing/2014/main" val="3106965190"/>
                  </a:ext>
                </a:extLst>
              </a:tr>
              <a:tr h="493068">
                <a:tc>
                  <a:txBody>
                    <a:bodyPr/>
                    <a:lstStyle/>
                    <a:p>
                      <a:r>
                        <a:rPr lang="en-GB" b="1" dirty="0">
                          <a:solidFill>
                            <a:schemeClr val="tx1"/>
                          </a:solidFill>
                        </a:rPr>
                        <a:t>SECTION</a:t>
                      </a:r>
                      <a:endParaRPr lang="en-US" b="1" dirty="0">
                        <a:solidFill>
                          <a:schemeClr val="tx1"/>
                        </a:solidFill>
                      </a:endParaRPr>
                    </a:p>
                  </a:txBody>
                  <a:tcPr/>
                </a:tc>
                <a:tc>
                  <a:txBody>
                    <a:bodyPr/>
                    <a:lstStyle/>
                    <a:p>
                      <a:r>
                        <a:rPr lang="en-US" dirty="0" smtClean="0"/>
                        <a:t>C</a:t>
                      </a:r>
                      <a:endParaRPr lang="en-US" dirty="0"/>
                    </a:p>
                  </a:txBody>
                  <a:tcPr/>
                </a:tc>
                <a:extLst>
                  <a:ext uri="{0D108BD9-81ED-4DB2-BD59-A6C34878D82A}">
                    <a16:rowId xmlns:a16="http://schemas.microsoft.com/office/drawing/2014/main" val="3234068443"/>
                  </a:ext>
                </a:extLst>
              </a:tr>
              <a:tr h="493068">
                <a:tc>
                  <a:txBody>
                    <a:bodyPr/>
                    <a:lstStyle/>
                    <a:p>
                      <a:r>
                        <a:rPr lang="en-GB" b="1" dirty="0">
                          <a:solidFill>
                            <a:schemeClr val="tx1"/>
                          </a:solidFill>
                        </a:rPr>
                        <a:t>FACULTY IN-CHARGE</a:t>
                      </a:r>
                      <a:endParaRPr lang="en-US" b="1" dirty="0">
                        <a:solidFill>
                          <a:schemeClr val="tx1"/>
                        </a:solidFill>
                      </a:endParaRPr>
                    </a:p>
                  </a:txBody>
                  <a:tcPr/>
                </a:tc>
                <a:tc>
                  <a:txBody>
                    <a:bodyPr/>
                    <a:lstStyle/>
                    <a:p>
                      <a:r>
                        <a:rPr lang="en-GB" b="1" dirty="0" smtClean="0"/>
                        <a:t>Ms</a:t>
                      </a:r>
                      <a:r>
                        <a:rPr lang="en-GB" b="1" baseline="0" dirty="0" smtClean="0"/>
                        <a:t> . </a:t>
                      </a:r>
                      <a:r>
                        <a:rPr lang="en-GB" b="1" baseline="0" dirty="0" err="1" smtClean="0"/>
                        <a:t>Phebe</a:t>
                      </a:r>
                      <a:r>
                        <a:rPr lang="en-GB" b="1" baseline="0" dirty="0" smtClean="0"/>
                        <a:t> </a:t>
                      </a:r>
                      <a:r>
                        <a:rPr lang="en-GB" b="1" baseline="0" dirty="0" err="1" smtClean="0"/>
                        <a:t>Persis</a:t>
                      </a:r>
                      <a:r>
                        <a:rPr lang="en-GB" b="1" baseline="0" dirty="0" smtClean="0"/>
                        <a:t> </a:t>
                      </a:r>
                      <a:endParaRPr lang="en-US" b="1" dirty="0"/>
                    </a:p>
                  </a:txBody>
                  <a:tcPr/>
                </a:tc>
                <a:extLst>
                  <a:ext uri="{0D108BD9-81ED-4DB2-BD59-A6C34878D82A}">
                    <a16:rowId xmlns:a16="http://schemas.microsoft.com/office/drawing/2014/main" val="3536199969"/>
                  </a:ext>
                </a:extLst>
              </a:tr>
            </a:tbl>
          </a:graphicData>
        </a:graphic>
      </p:graphicFrame>
      <p:sp>
        <p:nvSpPr>
          <p:cNvPr id="12" name="Date Placeholder 11">
            <a:extLst>
              <a:ext uri="{FF2B5EF4-FFF2-40B4-BE49-F238E27FC236}">
                <a16:creationId xmlns:a16="http://schemas.microsoft.com/office/drawing/2014/main" id="{6B174A57-15CE-2FFD-86D9-B7E84692480D}"/>
              </a:ext>
            </a:extLst>
          </p:cNvPr>
          <p:cNvSpPr>
            <a:spLocks noGrp="1"/>
          </p:cNvSpPr>
          <p:nvPr>
            <p:ph type="dt" sz="half" idx="10"/>
          </p:nvPr>
        </p:nvSpPr>
        <p:spPr/>
        <p:txBody>
          <a:bodyPr/>
          <a:lstStyle/>
          <a:p>
            <a:fld id="{F9B0B098-7844-408D-9BB3-6B083FBEE8AA}" type="datetime1">
              <a:rPr lang="en-US" smtClean="0"/>
              <a:t>11/2/2025</a:t>
            </a:fld>
            <a:endParaRPr lang="en-US"/>
          </a:p>
        </p:txBody>
      </p:sp>
      <p:sp>
        <p:nvSpPr>
          <p:cNvPr id="13" name="Slide Number Placeholder 12">
            <a:extLst>
              <a:ext uri="{FF2B5EF4-FFF2-40B4-BE49-F238E27FC236}">
                <a16:creationId xmlns:a16="http://schemas.microsoft.com/office/drawing/2014/main" id="{E4873981-939E-932D-DBE2-6B02CC92B85F}"/>
              </a:ext>
            </a:extLst>
          </p:cNvPr>
          <p:cNvSpPr>
            <a:spLocks noGrp="1"/>
          </p:cNvSpPr>
          <p:nvPr>
            <p:ph type="sldNum" sz="quarter" idx="12"/>
          </p:nvPr>
        </p:nvSpPr>
        <p:spPr/>
        <p:txBody>
          <a:bodyPr/>
          <a:lstStyle/>
          <a:p>
            <a:fld id="{1FCEF87E-815D-44D1-B0AB-39AF0402D6A8}" type="slidenum">
              <a:rPr lang="en-US" smtClean="0"/>
              <a:t>1</a:t>
            </a:fld>
            <a:endParaRPr lang="en-US"/>
          </a:p>
        </p:txBody>
      </p:sp>
    </p:spTree>
    <p:extLst>
      <p:ext uri="{BB962C8B-B14F-4D97-AF65-F5344CB8AC3E}">
        <p14:creationId xmlns:p14="http://schemas.microsoft.com/office/powerpoint/2010/main" val="2720793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E759A-0732-65F8-ABFC-93E81441B8A8}"/>
              </a:ext>
            </a:extLst>
          </p:cNvPr>
          <p:cNvSpPr>
            <a:spLocks noGrp="1"/>
          </p:cNvSpPr>
          <p:nvPr>
            <p:ph type="title"/>
          </p:nvPr>
        </p:nvSpPr>
        <p:spPr>
          <a:xfrm>
            <a:off x="0" y="35509"/>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PROBLEM STATEMENT</a:t>
            </a:r>
            <a:endParaRPr lang="en-US" dirty="0">
              <a:solidFill>
                <a:schemeClr val="tx1"/>
              </a:solidFill>
            </a:endParaRPr>
          </a:p>
        </p:txBody>
      </p:sp>
      <p:sp>
        <p:nvSpPr>
          <p:cNvPr id="3" name="Content Placeholder 2">
            <a:extLst>
              <a:ext uri="{FF2B5EF4-FFF2-40B4-BE49-F238E27FC236}">
                <a16:creationId xmlns:a16="http://schemas.microsoft.com/office/drawing/2014/main" id="{FAE17474-C476-1051-3F37-A2159E2BEE57}"/>
              </a:ext>
            </a:extLst>
          </p:cNvPr>
          <p:cNvSpPr>
            <a:spLocks noGrp="1"/>
          </p:cNvSpPr>
          <p:nvPr>
            <p:ph idx="1"/>
          </p:nvPr>
        </p:nvSpPr>
        <p:spPr>
          <a:xfrm>
            <a:off x="0" y="830815"/>
            <a:ext cx="11973828" cy="5890660"/>
          </a:xfrm>
        </p:spPr>
        <p:txBody>
          <a:bodyPr>
            <a:normAutofit lnSpcReduction="10000"/>
          </a:bodyPr>
          <a:lstStyle/>
          <a:p>
            <a:pPr>
              <a:buFont typeface="Wingdings" pitchFamily="2" charset="2"/>
              <a:buChar char="v"/>
            </a:pPr>
            <a:r>
              <a:rPr lang="en-US" b="1" dirty="0"/>
              <a:t>Brief Overview of Artificial Intelligence </a:t>
            </a:r>
            <a:r>
              <a:rPr lang="en-US" b="1" dirty="0" smtClean="0"/>
              <a:t>Concepts</a:t>
            </a:r>
          </a:p>
          <a:p>
            <a:pPr marL="0" indent="0">
              <a:buNone/>
            </a:pPr>
            <a:r>
              <a:rPr lang="en-US" sz="2000" b="1" dirty="0">
                <a:latin typeface="+mj-lt"/>
              </a:rPr>
              <a:t>	</a:t>
            </a:r>
            <a:r>
              <a:rPr lang="en-US" sz="1900" dirty="0"/>
              <a:t>Artificial Intelligence (AI) is a field of computer science that focuses on developing systems capable of performing tasks that normally require human intelligence, such as learning, reasoning, and decision-making. One of the major applications of AI is in predictive analytics, where machines learn patterns from data to forecast future outcomes.</a:t>
            </a:r>
            <a:br>
              <a:rPr lang="en-US" sz="1900" dirty="0"/>
            </a:br>
            <a:r>
              <a:rPr lang="en-US" sz="1900" dirty="0"/>
              <a:t>In this project, AI techniques are applied to predict student performance using machine learning algorithms. The model analyzes key academic factors like study hours, attendance, assignments, and sleep hours to estimate the expected marks of a student. This approach demonstrates how AI can support educational institutions in identifying performance trends and improving academic outcomes</a:t>
            </a:r>
            <a:r>
              <a:rPr lang="en-US" sz="1900" dirty="0" smtClean="0"/>
              <a:t>.</a:t>
            </a:r>
          </a:p>
          <a:p>
            <a:pPr marL="0" indent="0">
              <a:buNone/>
            </a:pPr>
            <a:endParaRPr lang="en-US" sz="1900" dirty="0" smtClean="0">
              <a:latin typeface="+mj-lt"/>
            </a:endParaRPr>
          </a:p>
          <a:p>
            <a:pPr>
              <a:buFont typeface="Wingdings" pitchFamily="2" charset="2"/>
              <a:buChar char="v"/>
            </a:pPr>
            <a:r>
              <a:rPr lang="en-US" b="1" dirty="0"/>
              <a:t>Why the Problem </a:t>
            </a:r>
            <a:r>
              <a:rPr lang="en-US" b="1" dirty="0" smtClean="0"/>
              <a:t>Matters</a:t>
            </a:r>
          </a:p>
          <a:p>
            <a:pPr eaLnBrk="0" fontAlgn="base" hangingPunct="0">
              <a:lnSpc>
                <a:spcPct val="100000"/>
              </a:lnSpc>
              <a:spcBef>
                <a:spcPct val="0"/>
              </a:spcBef>
              <a:spcAft>
                <a:spcPct val="0"/>
              </a:spcAft>
            </a:pPr>
            <a:r>
              <a:rPr lang="en-US" altLang="en-US" sz="2000" dirty="0" smtClean="0"/>
              <a:t>Teachers </a:t>
            </a:r>
            <a:r>
              <a:rPr lang="en-US" altLang="en-US" sz="2000" dirty="0"/>
              <a:t>and educators identify students who need additional academic support</a:t>
            </a:r>
            <a:r>
              <a:rPr lang="en-US" altLang="en-US" sz="2000" dirty="0" smtClean="0"/>
              <a:t>.</a:t>
            </a:r>
          </a:p>
          <a:p>
            <a:pPr eaLnBrk="0" fontAlgn="base" hangingPunct="0">
              <a:lnSpc>
                <a:spcPct val="100000"/>
              </a:lnSpc>
              <a:spcBef>
                <a:spcPct val="0"/>
              </a:spcBef>
              <a:spcAft>
                <a:spcPct val="0"/>
              </a:spcAft>
            </a:pPr>
            <a:r>
              <a:rPr lang="en-US" altLang="en-US" sz="2000" dirty="0"/>
              <a:t>Institutions improve learning outcomes through data-driven decisions.</a:t>
            </a:r>
          </a:p>
          <a:p>
            <a:pPr eaLnBrk="0" fontAlgn="base" hangingPunct="0">
              <a:lnSpc>
                <a:spcPct val="100000"/>
              </a:lnSpc>
              <a:spcBef>
                <a:spcPct val="0"/>
              </a:spcBef>
              <a:spcAft>
                <a:spcPct val="0"/>
              </a:spcAft>
            </a:pPr>
            <a:r>
              <a:rPr lang="en-US" altLang="en-US" sz="2000" dirty="0"/>
              <a:t>Parents track and understand their child’s academic progress </a:t>
            </a:r>
            <a:r>
              <a:rPr lang="en-US" altLang="en-US" sz="2000" dirty="0" smtClean="0"/>
              <a:t>effectively</a:t>
            </a:r>
          </a:p>
          <a:p>
            <a:pPr eaLnBrk="0" fontAlgn="base" hangingPunct="0">
              <a:lnSpc>
                <a:spcPct val="100000"/>
              </a:lnSpc>
              <a:spcBef>
                <a:spcPct val="0"/>
              </a:spcBef>
              <a:spcAft>
                <a:spcPct val="0"/>
              </a:spcAft>
            </a:pPr>
            <a:r>
              <a:rPr lang="en-US" sz="2000" dirty="0"/>
              <a:t>Students receive personalized study recommendations to enhance performance</a:t>
            </a:r>
            <a:r>
              <a:rPr lang="en-US" sz="2000" dirty="0" smtClean="0"/>
              <a:t>.</a:t>
            </a:r>
            <a:endParaRPr lang="en-US" sz="2000" b="1" dirty="0"/>
          </a:p>
          <a:p>
            <a:pPr eaLnBrk="0" fontAlgn="base" hangingPunct="0">
              <a:lnSpc>
                <a:spcPct val="100000"/>
              </a:lnSpc>
              <a:spcBef>
                <a:spcPct val="0"/>
              </a:spcBef>
              <a:spcAft>
                <a:spcPct val="0"/>
              </a:spcAft>
            </a:pPr>
            <a:endParaRPr lang="en-US" altLang="en-US" sz="2000" dirty="0" smtClean="0"/>
          </a:p>
          <a:p>
            <a:pPr>
              <a:buFont typeface="Wingdings" pitchFamily="2" charset="2"/>
              <a:buChar char="v"/>
            </a:pPr>
            <a:r>
              <a:rPr lang="en-IN" b="1" dirty="0" smtClean="0"/>
              <a:t>Project Aim</a:t>
            </a:r>
          </a:p>
          <a:p>
            <a:pPr marL="0" indent="0">
              <a:buNone/>
            </a:pPr>
            <a:r>
              <a:rPr lang="en-US" b="1" dirty="0"/>
              <a:t> </a:t>
            </a:r>
            <a:r>
              <a:rPr lang="en-US" b="1" dirty="0" smtClean="0"/>
              <a:t>  </a:t>
            </a:r>
            <a:r>
              <a:rPr lang="en-US" sz="2000" dirty="0" smtClean="0"/>
              <a:t>The </a:t>
            </a:r>
            <a:r>
              <a:rPr lang="en-US" sz="2000" dirty="0"/>
              <a:t>main goal of this project is to develop a machine learning-based prediction model using Linear Regression to estimate student </a:t>
            </a:r>
            <a:r>
              <a:rPr lang="en-US" sz="2000" dirty="0" err="1" smtClean="0"/>
              <a:t>performance.The</a:t>
            </a:r>
            <a:r>
              <a:rPr lang="en-US" sz="2000" dirty="0" smtClean="0"/>
              <a:t> </a:t>
            </a:r>
            <a:r>
              <a:rPr lang="en-US" sz="2000" dirty="0"/>
              <a:t>model predicts the expected marks of a student based on measurable academic parameters such as study hours, attendance percentage, assignments completed, and sleep duration.</a:t>
            </a:r>
            <a:endParaRPr lang="en-US" sz="2000" dirty="0"/>
          </a:p>
          <a:p>
            <a:pPr marL="0" indent="0">
              <a:buNone/>
            </a:pPr>
            <a:endParaRPr lang="en-US" dirty="0"/>
          </a:p>
          <a:p>
            <a:endParaRPr lang="en-US" dirty="0"/>
          </a:p>
        </p:txBody>
      </p:sp>
      <p:sp>
        <p:nvSpPr>
          <p:cNvPr id="4" name="Date Placeholder 3">
            <a:extLst>
              <a:ext uri="{FF2B5EF4-FFF2-40B4-BE49-F238E27FC236}">
                <a16:creationId xmlns:a16="http://schemas.microsoft.com/office/drawing/2014/main" id="{85FF5BCC-B36E-DFE5-103F-31FA12632094}"/>
              </a:ext>
            </a:extLst>
          </p:cNvPr>
          <p:cNvSpPr>
            <a:spLocks noGrp="1"/>
          </p:cNvSpPr>
          <p:nvPr>
            <p:ph type="dt" sz="half" idx="10"/>
          </p:nvPr>
        </p:nvSpPr>
        <p:spPr>
          <a:xfrm>
            <a:off x="838200" y="6558116"/>
            <a:ext cx="2743200" cy="163359"/>
          </a:xfrm>
        </p:spPr>
        <p:txBody>
          <a:bodyPr/>
          <a:lstStyle/>
          <a:p>
            <a:fld id="{316FBEDF-053F-468F-8CCF-D1ACE4FBB50D}" type="datetime1">
              <a:rPr lang="en-US" smtClean="0"/>
              <a:t>11/2/2025</a:t>
            </a:fld>
            <a:endParaRPr lang="en-US" dirty="0"/>
          </a:p>
        </p:txBody>
      </p:sp>
      <p:sp>
        <p:nvSpPr>
          <p:cNvPr id="5" name="Slide Number Placeholder 4">
            <a:extLst>
              <a:ext uri="{FF2B5EF4-FFF2-40B4-BE49-F238E27FC236}">
                <a16:creationId xmlns:a16="http://schemas.microsoft.com/office/drawing/2014/main" id="{70253399-F526-B4B1-D444-32B3A164A39F}"/>
              </a:ext>
            </a:extLst>
          </p:cNvPr>
          <p:cNvSpPr>
            <a:spLocks noGrp="1"/>
          </p:cNvSpPr>
          <p:nvPr>
            <p:ph type="sldNum" sz="quarter" idx="12"/>
          </p:nvPr>
        </p:nvSpPr>
        <p:spPr/>
        <p:txBody>
          <a:bodyPr/>
          <a:lstStyle/>
          <a:p>
            <a:fld id="{1FCEF87E-815D-44D1-B0AB-39AF0402D6A8}" type="slidenum">
              <a:rPr lang="en-US" smtClean="0"/>
              <a:t>2</a:t>
            </a:fld>
            <a:endParaRPr lang="en-US"/>
          </a:p>
        </p:txBody>
      </p:sp>
      <p:sp>
        <p:nvSpPr>
          <p:cNvPr id="6" name="Rectangle 1"/>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816614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CC068-5F54-97E8-2F1C-0538F11269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B2B1AF-B7ED-6DDA-888D-9BCAF08EA5E4}"/>
              </a:ext>
            </a:extLst>
          </p:cNvPr>
          <p:cNvSpPr>
            <a:spLocks noGrp="1"/>
          </p:cNvSpPr>
          <p:nvPr>
            <p:ph type="title"/>
          </p:nvPr>
        </p:nvSpPr>
        <p:spPr>
          <a:xfrm>
            <a:off x="0" y="35509"/>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THEORETICAL BACKGROUND</a:t>
            </a:r>
            <a:endParaRPr lang="en-US" dirty="0">
              <a:solidFill>
                <a:schemeClr val="tx1"/>
              </a:solidFill>
            </a:endParaRPr>
          </a:p>
        </p:txBody>
      </p:sp>
      <p:sp>
        <p:nvSpPr>
          <p:cNvPr id="3" name="Content Placeholder 2">
            <a:extLst>
              <a:ext uri="{FF2B5EF4-FFF2-40B4-BE49-F238E27FC236}">
                <a16:creationId xmlns:a16="http://schemas.microsoft.com/office/drawing/2014/main" id="{FE67243E-1300-82BE-9968-6837E801AFFC}"/>
              </a:ext>
            </a:extLst>
          </p:cNvPr>
          <p:cNvSpPr>
            <a:spLocks noGrp="1"/>
          </p:cNvSpPr>
          <p:nvPr>
            <p:ph idx="1"/>
          </p:nvPr>
        </p:nvSpPr>
        <p:spPr>
          <a:xfrm>
            <a:off x="78658" y="818148"/>
            <a:ext cx="11975690" cy="5903328"/>
          </a:xfrm>
        </p:spPr>
        <p:txBody>
          <a:bodyPr>
            <a:normAutofit fontScale="85000" lnSpcReduction="20000"/>
          </a:bodyPr>
          <a:lstStyle/>
          <a:p>
            <a:r>
              <a:rPr lang="en-US" b="1" dirty="0"/>
              <a:t>Theoretical Background of the Problem and Algorithm</a:t>
            </a:r>
          </a:p>
          <a:p>
            <a:pPr lvl="1">
              <a:buFont typeface="Courier New" pitchFamily="49" charset="0"/>
              <a:buChar char="o"/>
            </a:pPr>
            <a:r>
              <a:rPr lang="en-US" dirty="0"/>
              <a:t>In this project, a Linear Regression model — one of the simplest and most interpretable supervised learning algorithms — is used to predict student marks based on academic and behavioral factors.</a:t>
            </a:r>
            <a:br>
              <a:rPr lang="en-US" dirty="0"/>
            </a:br>
            <a:r>
              <a:rPr lang="en-US" dirty="0"/>
              <a:t>The model establishes a linear relationship between input variables (such as study hours, attendance, assignments, and sleep hours) and the target variable (marks</a:t>
            </a:r>
            <a:r>
              <a:rPr lang="en-US" dirty="0" smtClean="0"/>
              <a:t>).</a:t>
            </a:r>
          </a:p>
          <a:p>
            <a:pPr lvl="1">
              <a:buFont typeface="Courier New" pitchFamily="49" charset="0"/>
              <a:buChar char="o"/>
            </a:pPr>
            <a:r>
              <a:rPr lang="en-US" dirty="0" smtClean="0"/>
              <a:t>By </a:t>
            </a:r>
            <a:r>
              <a:rPr lang="en-US" dirty="0"/>
              <a:t>learning the coefficients for each factor, the model generates a prediction equation that estimates the expected performance of a student. </a:t>
            </a:r>
            <a:endParaRPr lang="en-US" dirty="0" smtClean="0"/>
          </a:p>
          <a:p>
            <a:r>
              <a:rPr lang="en-US" b="1" dirty="0" smtClean="0"/>
              <a:t>Literature Survey</a:t>
            </a:r>
            <a:endParaRPr lang="en-US" b="1" dirty="0"/>
          </a:p>
          <a:p>
            <a:pPr>
              <a:buFont typeface="Courier New" panose="02070309020205020404" pitchFamily="49" charset="0"/>
              <a:buChar char="o"/>
            </a:pPr>
            <a:r>
              <a:rPr lang="en-US" sz="2600" dirty="0" smtClean="0"/>
              <a:t>Researchers </a:t>
            </a:r>
            <a:r>
              <a:rPr lang="en-US" sz="2600" dirty="0"/>
              <a:t>have applied Linear Regression and other supervised learning models to predict student academic performance based on attendance, study hours, and prior </a:t>
            </a:r>
            <a:r>
              <a:rPr lang="en-US" sz="2600" dirty="0" smtClean="0"/>
              <a:t>grades.</a:t>
            </a:r>
          </a:p>
          <a:p>
            <a:pPr>
              <a:buFont typeface="Courier New" panose="02070309020205020404" pitchFamily="49" charset="0"/>
              <a:buChar char="o"/>
            </a:pPr>
            <a:r>
              <a:rPr lang="en-US" sz="2600" dirty="0" smtClean="0"/>
              <a:t>Studies </a:t>
            </a:r>
            <a:r>
              <a:rPr lang="en-US" sz="2600" dirty="0"/>
              <a:t>indicate that machine learning algorithms outperform traditional statistical methods in accurately forecasting student success and identifying at-risk </a:t>
            </a:r>
            <a:r>
              <a:rPr lang="en-US" sz="2600" dirty="0" smtClean="0"/>
              <a:t>learners.</a:t>
            </a:r>
          </a:p>
          <a:p>
            <a:pPr>
              <a:buFont typeface="Courier New" panose="02070309020205020404" pitchFamily="49" charset="0"/>
              <a:buChar char="o"/>
            </a:pPr>
            <a:r>
              <a:rPr lang="en-US" sz="2600" dirty="0" smtClean="0"/>
              <a:t>Hybrid </a:t>
            </a:r>
            <a:r>
              <a:rPr lang="en-US" sz="2600" dirty="0"/>
              <a:t>approaches combining Regression and Classification models have been used to improve prediction accuracy and interpretability in educational </a:t>
            </a:r>
            <a:r>
              <a:rPr lang="en-US" sz="2600" dirty="0" smtClean="0"/>
              <a:t>analytics.</a:t>
            </a:r>
          </a:p>
          <a:p>
            <a:pPr>
              <a:buFont typeface="Courier New" panose="02070309020205020404" pitchFamily="49" charset="0"/>
              <a:buChar char="o"/>
            </a:pPr>
            <a:r>
              <a:rPr lang="en-US" sz="2600" dirty="0" smtClean="0"/>
              <a:t>Recent </a:t>
            </a:r>
            <a:r>
              <a:rPr lang="en-US" sz="2600" dirty="0"/>
              <a:t>research highlights the use of AI-driven systems for personalized learning, performance tracking, and academic decision-making in schools and universities</a:t>
            </a:r>
            <a:r>
              <a:rPr lang="en-US" sz="2600" dirty="0" smtClean="0"/>
              <a:t>.</a:t>
            </a:r>
            <a:endParaRPr lang="en-US" dirty="0" smtClean="0"/>
          </a:p>
          <a:p>
            <a:r>
              <a:rPr lang="en-US" b="1" dirty="0" smtClean="0"/>
              <a:t>Justification for Choosing the Algorithm</a:t>
            </a:r>
          </a:p>
          <a:p>
            <a:pPr lvl="0" eaLnBrk="0" fontAlgn="base" hangingPunct="0">
              <a:lnSpc>
                <a:spcPct val="100000"/>
              </a:lnSpc>
              <a:spcBef>
                <a:spcPct val="0"/>
              </a:spcBef>
              <a:spcAft>
                <a:spcPct val="0"/>
              </a:spcAft>
              <a:buFont typeface="Courier New" panose="02070309020205020404" pitchFamily="49" charset="0"/>
              <a:buChar char="o"/>
            </a:pPr>
            <a:r>
              <a:rPr lang="en-US" altLang="en-US" sz="1900" dirty="0" smtClean="0"/>
              <a:t>The </a:t>
            </a:r>
            <a:r>
              <a:rPr lang="en-US" altLang="en-US" sz="1900" dirty="0"/>
              <a:t>algorithm is simple, interpretable, and easy to implement, making it suitable for educational data </a:t>
            </a:r>
            <a:r>
              <a:rPr lang="en-US" altLang="en-US" sz="1900" dirty="0" smtClean="0"/>
              <a:t>analysis.</a:t>
            </a:r>
          </a:p>
          <a:p>
            <a:pPr lvl="0" eaLnBrk="0" fontAlgn="base" hangingPunct="0">
              <a:lnSpc>
                <a:spcPct val="100000"/>
              </a:lnSpc>
              <a:spcBef>
                <a:spcPct val="0"/>
              </a:spcBef>
              <a:spcAft>
                <a:spcPct val="0"/>
              </a:spcAft>
              <a:buFont typeface="Courier New" panose="02070309020205020404" pitchFamily="49" charset="0"/>
              <a:buChar char="o"/>
            </a:pPr>
            <a:r>
              <a:rPr lang="en-US" altLang="en-US" sz="1900" dirty="0" smtClean="0"/>
              <a:t>It </a:t>
            </a:r>
            <a:r>
              <a:rPr lang="en-US" altLang="en-US" sz="1900" dirty="0"/>
              <a:t>provides a quantitative understanding of how each input variable (like study hours or attendance) impacts the final </a:t>
            </a:r>
            <a:r>
              <a:rPr lang="en-US" altLang="en-US" sz="1900" dirty="0" smtClean="0"/>
              <a:t>marks.</a:t>
            </a:r>
          </a:p>
          <a:p>
            <a:pPr lvl="0" eaLnBrk="0" fontAlgn="base" hangingPunct="0">
              <a:lnSpc>
                <a:spcPct val="100000"/>
              </a:lnSpc>
              <a:spcBef>
                <a:spcPct val="0"/>
              </a:spcBef>
              <a:spcAft>
                <a:spcPct val="0"/>
              </a:spcAft>
              <a:buFont typeface="Courier New" panose="02070309020205020404" pitchFamily="49" charset="0"/>
              <a:buChar char="o"/>
            </a:pPr>
            <a:r>
              <a:rPr lang="en-US" altLang="en-US" sz="1900" dirty="0" smtClean="0"/>
              <a:t>The </a:t>
            </a:r>
            <a:r>
              <a:rPr lang="en-US" altLang="en-US" sz="1900" dirty="0"/>
              <a:t>model performs well even with limited datasets, producing accurate and consistent </a:t>
            </a:r>
            <a:r>
              <a:rPr lang="en-US" altLang="en-US" sz="1900" dirty="0" smtClean="0"/>
              <a:t>predictions.</a:t>
            </a:r>
          </a:p>
          <a:p>
            <a:pPr lvl="0" eaLnBrk="0" fontAlgn="base" hangingPunct="0">
              <a:lnSpc>
                <a:spcPct val="100000"/>
              </a:lnSpc>
              <a:spcBef>
                <a:spcPct val="0"/>
              </a:spcBef>
              <a:spcAft>
                <a:spcPct val="0"/>
              </a:spcAft>
              <a:buFont typeface="Courier New" panose="02070309020205020404" pitchFamily="49" charset="0"/>
              <a:buChar char="o"/>
            </a:pPr>
            <a:r>
              <a:rPr lang="en-US" altLang="en-US" sz="1900" dirty="0" smtClean="0"/>
              <a:t>It </a:t>
            </a:r>
            <a:r>
              <a:rPr lang="en-US" altLang="en-US" sz="1900" dirty="0"/>
              <a:t>serves as a strong baseline algorithm for future enhancements using advanced AI </a:t>
            </a:r>
            <a:r>
              <a:rPr lang="en-US" altLang="en-US" sz="1900" dirty="0" smtClean="0"/>
              <a:t>models.</a:t>
            </a:r>
          </a:p>
          <a:p>
            <a:pPr lvl="0" eaLnBrk="0" fontAlgn="base" hangingPunct="0">
              <a:lnSpc>
                <a:spcPct val="100000"/>
              </a:lnSpc>
              <a:spcBef>
                <a:spcPct val="0"/>
              </a:spcBef>
              <a:spcAft>
                <a:spcPct val="0"/>
              </a:spcAft>
              <a:buFont typeface="Courier New" panose="02070309020205020404" pitchFamily="49" charset="0"/>
              <a:buChar char="o"/>
            </a:pPr>
            <a:r>
              <a:rPr lang="en-US" altLang="en-US" sz="1900" dirty="0" smtClean="0"/>
              <a:t>It </a:t>
            </a:r>
            <a:r>
              <a:rPr lang="en-US" altLang="en-US" sz="1900" dirty="0"/>
              <a:t>effectively models the relationship between multiple academic factors and student performance</a:t>
            </a:r>
            <a:endParaRPr lang="en-US" sz="1900" dirty="0" smtClean="0"/>
          </a:p>
          <a:p>
            <a:pPr marL="457200" lvl="1" indent="0">
              <a:buNone/>
            </a:pPr>
            <a:endParaRPr lang="en-US" dirty="0" smtClean="0"/>
          </a:p>
        </p:txBody>
      </p:sp>
      <p:sp>
        <p:nvSpPr>
          <p:cNvPr id="4" name="Date Placeholder 3">
            <a:extLst>
              <a:ext uri="{FF2B5EF4-FFF2-40B4-BE49-F238E27FC236}">
                <a16:creationId xmlns:a16="http://schemas.microsoft.com/office/drawing/2014/main" id="{4AF593AB-ABA6-D8E8-42D9-A38FB7B4DB45}"/>
              </a:ext>
            </a:extLst>
          </p:cNvPr>
          <p:cNvSpPr>
            <a:spLocks noGrp="1"/>
          </p:cNvSpPr>
          <p:nvPr>
            <p:ph type="dt" sz="half" idx="10"/>
          </p:nvPr>
        </p:nvSpPr>
        <p:spPr/>
        <p:txBody>
          <a:bodyPr/>
          <a:lstStyle/>
          <a:p>
            <a:fld id="{316FBEDF-053F-468F-8CCF-D1ACE4FBB50D}" type="datetime1">
              <a:rPr lang="en-US" smtClean="0"/>
              <a:t>11/2/2025</a:t>
            </a:fld>
            <a:endParaRPr lang="en-US" dirty="0"/>
          </a:p>
        </p:txBody>
      </p:sp>
      <p:sp>
        <p:nvSpPr>
          <p:cNvPr id="5" name="Slide Number Placeholder 4">
            <a:extLst>
              <a:ext uri="{FF2B5EF4-FFF2-40B4-BE49-F238E27FC236}">
                <a16:creationId xmlns:a16="http://schemas.microsoft.com/office/drawing/2014/main" id="{40AE40CC-B05F-6325-A926-99504CD4A72F}"/>
              </a:ext>
            </a:extLst>
          </p:cNvPr>
          <p:cNvSpPr>
            <a:spLocks noGrp="1"/>
          </p:cNvSpPr>
          <p:nvPr>
            <p:ph type="sldNum" sz="quarter" idx="12"/>
          </p:nvPr>
        </p:nvSpPr>
        <p:spPr/>
        <p:txBody>
          <a:bodyPr/>
          <a:lstStyle/>
          <a:p>
            <a:fld id="{1FCEF87E-815D-44D1-B0AB-39AF0402D6A8}" type="slidenum">
              <a:rPr lang="en-US" smtClean="0"/>
              <a:t>3</a:t>
            </a:fld>
            <a:endParaRPr lang="en-US" dirty="0"/>
          </a:p>
        </p:txBody>
      </p:sp>
      <p:sp>
        <p:nvSpPr>
          <p:cNvPr id="9" name="Rectangle 4"/>
          <p:cNvSpPr>
            <a:spLocks noChangeArrowheads="1"/>
          </p:cNvSpPr>
          <p:nvPr/>
        </p:nvSpPr>
        <p:spPr bwMode="auto">
          <a:xfrm>
            <a:off x="0" y="-184665"/>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832692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55069-71B1-83F0-E5F5-B02F8F5772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58887-D4AD-6383-79D6-F528D34824D4}"/>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smtClean="0">
                <a:solidFill>
                  <a:schemeClr val="tx1"/>
                </a:solidFill>
              </a:rPr>
              <a:t> EXPLANATION OF ALGORITHM</a:t>
            </a:r>
            <a:endParaRPr lang="en-US" dirty="0">
              <a:solidFill>
                <a:schemeClr val="tx1"/>
              </a:solidFill>
            </a:endParaRPr>
          </a:p>
        </p:txBody>
      </p:sp>
      <p:sp>
        <p:nvSpPr>
          <p:cNvPr id="3" name="Content Placeholder 2">
            <a:extLst>
              <a:ext uri="{FF2B5EF4-FFF2-40B4-BE49-F238E27FC236}">
                <a16:creationId xmlns:a16="http://schemas.microsoft.com/office/drawing/2014/main" id="{CB511744-1841-7314-5231-7CC4C07DDED0}"/>
              </a:ext>
            </a:extLst>
          </p:cNvPr>
          <p:cNvSpPr>
            <a:spLocks noGrp="1"/>
          </p:cNvSpPr>
          <p:nvPr>
            <p:ph idx="1"/>
          </p:nvPr>
        </p:nvSpPr>
        <p:spPr>
          <a:xfrm>
            <a:off x="838200" y="1267326"/>
            <a:ext cx="10515600" cy="4909637"/>
          </a:xfrm>
        </p:spPr>
        <p:txBody>
          <a:bodyPr>
            <a:normAutofit lnSpcReduction="10000"/>
          </a:bodyPr>
          <a:lstStyle/>
          <a:p>
            <a:pPr marL="0" indent="0">
              <a:buNone/>
            </a:pPr>
            <a:r>
              <a:rPr lang="en-IN" b="1" dirty="0"/>
              <a:t>Bayes’ Theorem:</a:t>
            </a:r>
            <a:endParaRPr lang="en-IN" dirty="0"/>
          </a:p>
          <a:p>
            <a:pPr marL="457200" lvl="1" indent="0">
              <a:buNone/>
            </a:pPr>
            <a:endParaRPr lang="en-US" dirty="0" smtClean="0"/>
          </a:p>
          <a:p>
            <a:pPr marL="457200" lvl="1" indent="0">
              <a:buNone/>
            </a:pPr>
            <a:endParaRPr lang="en-US" dirty="0"/>
          </a:p>
          <a:p>
            <a:pPr marL="457200" lvl="1" indent="0">
              <a:buNone/>
            </a:pPr>
            <a:endParaRPr lang="en-US" dirty="0" smtClean="0"/>
          </a:p>
          <a:p>
            <a:pPr marL="457200" lvl="1" indent="0">
              <a:buNone/>
            </a:pPr>
            <a:endParaRPr lang="en-US" dirty="0"/>
          </a:p>
          <a:p>
            <a:pPr marL="0" indent="0">
              <a:buNone/>
            </a:pPr>
            <a:r>
              <a:rPr lang="en-IN" dirty="0"/>
              <a:t>Where</a:t>
            </a:r>
            <a:r>
              <a:rPr lang="en-IN" dirty="0" smtClean="0"/>
              <a:t>:</a:t>
            </a:r>
            <a:endParaRPr lang="en-IN" dirty="0"/>
          </a:p>
          <a:p>
            <a:pPr marL="457200" lvl="1" indent="0">
              <a:buNone/>
            </a:pPr>
            <a:r>
              <a:rPr lang="en-IN" dirty="0"/>
              <a:t>• Y – Predicted Marks of the Student</a:t>
            </a:r>
            <a:br>
              <a:rPr lang="en-IN" dirty="0"/>
            </a:br>
            <a:r>
              <a:rPr lang="en-IN" dirty="0"/>
              <a:t>• b₀ – Intercept or constant term</a:t>
            </a:r>
            <a:br>
              <a:rPr lang="en-IN" dirty="0"/>
            </a:br>
            <a:r>
              <a:rPr lang="en-IN" dirty="0"/>
              <a:t>• b₁, b₂, b₃, b₄ – Coefficients that represent the weight of each input factor</a:t>
            </a:r>
            <a:br>
              <a:rPr lang="en-IN" dirty="0"/>
            </a:br>
            <a:r>
              <a:rPr lang="en-IN" dirty="0"/>
              <a:t>• X₁ – Study Hours</a:t>
            </a:r>
            <a:br>
              <a:rPr lang="en-IN" dirty="0"/>
            </a:br>
            <a:r>
              <a:rPr lang="en-IN" dirty="0"/>
              <a:t>• X₂ – Attendance Percentage</a:t>
            </a:r>
            <a:br>
              <a:rPr lang="en-IN" dirty="0"/>
            </a:br>
            <a:r>
              <a:rPr lang="en-IN" dirty="0"/>
              <a:t>• X₃ – Assignments Completed</a:t>
            </a:r>
            <a:br>
              <a:rPr lang="en-IN" dirty="0"/>
            </a:br>
            <a:r>
              <a:rPr lang="en-IN" dirty="0"/>
              <a:t>• X₄ – Sleep Hours </a:t>
            </a:r>
          </a:p>
          <a:p>
            <a:pPr marL="457200" lvl="1" indent="0">
              <a:buNone/>
            </a:pPr>
            <a:endParaRPr lang="en-IN" dirty="0"/>
          </a:p>
          <a:p>
            <a:pPr lvl="0"/>
            <a:endParaRPr lang="en-US" dirty="0"/>
          </a:p>
        </p:txBody>
      </p:sp>
      <p:sp>
        <p:nvSpPr>
          <p:cNvPr id="4" name="Date Placeholder 3">
            <a:extLst>
              <a:ext uri="{FF2B5EF4-FFF2-40B4-BE49-F238E27FC236}">
                <a16:creationId xmlns:a16="http://schemas.microsoft.com/office/drawing/2014/main" id="{E47BACE5-322B-3F55-2CA9-8E1D4117021B}"/>
              </a:ext>
            </a:extLst>
          </p:cNvPr>
          <p:cNvSpPr>
            <a:spLocks noGrp="1"/>
          </p:cNvSpPr>
          <p:nvPr>
            <p:ph type="dt" sz="half" idx="10"/>
          </p:nvPr>
        </p:nvSpPr>
        <p:spPr/>
        <p:txBody>
          <a:bodyPr/>
          <a:lstStyle/>
          <a:p>
            <a:fld id="{C5480D13-07B8-4CF5-901F-BD1025D74351}" type="datetime1">
              <a:rPr lang="en-US" smtClean="0"/>
              <a:t>11/2/2025</a:t>
            </a:fld>
            <a:endParaRPr lang="en-US"/>
          </a:p>
        </p:txBody>
      </p:sp>
      <p:sp>
        <p:nvSpPr>
          <p:cNvPr id="5" name="Slide Number Placeholder 4">
            <a:extLst>
              <a:ext uri="{FF2B5EF4-FFF2-40B4-BE49-F238E27FC236}">
                <a16:creationId xmlns:a16="http://schemas.microsoft.com/office/drawing/2014/main" id="{A7D1AF6B-7EFE-60E0-2350-AE083D01AD8A}"/>
              </a:ext>
            </a:extLst>
          </p:cNvPr>
          <p:cNvSpPr>
            <a:spLocks noGrp="1"/>
          </p:cNvSpPr>
          <p:nvPr>
            <p:ph type="sldNum" sz="quarter" idx="12"/>
          </p:nvPr>
        </p:nvSpPr>
        <p:spPr/>
        <p:txBody>
          <a:bodyPr/>
          <a:lstStyle/>
          <a:p>
            <a:fld id="{1FCEF87E-815D-44D1-B0AB-39AF0402D6A8}" type="slidenum">
              <a:rPr lang="en-US" smtClean="0"/>
              <a:t>4</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4774" y="2076335"/>
            <a:ext cx="7049729" cy="745523"/>
          </a:xfrm>
          <a:prstGeom prst="rect">
            <a:avLst/>
          </a:prstGeom>
        </p:spPr>
      </p:pic>
    </p:spTree>
    <p:extLst>
      <p:ext uri="{BB962C8B-B14F-4D97-AF65-F5344CB8AC3E}">
        <p14:creationId xmlns:p14="http://schemas.microsoft.com/office/powerpoint/2010/main" val="2805269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34F6B-2294-8100-6428-71DD4A23A3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876350-5987-57CB-5096-A77DCA2009EF}"/>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IMPLEMENTATION AND CODE</a:t>
            </a:r>
            <a:endParaRPr lang="en-US" dirty="0">
              <a:solidFill>
                <a:schemeClr val="tx1"/>
              </a:solidFill>
            </a:endParaRPr>
          </a:p>
        </p:txBody>
      </p:sp>
      <p:sp>
        <p:nvSpPr>
          <p:cNvPr id="3" name="Content Placeholder 2">
            <a:extLst>
              <a:ext uri="{FF2B5EF4-FFF2-40B4-BE49-F238E27FC236}">
                <a16:creationId xmlns:a16="http://schemas.microsoft.com/office/drawing/2014/main" id="{A229904C-7E5E-5862-ACA4-167CDBC5044B}"/>
              </a:ext>
            </a:extLst>
          </p:cNvPr>
          <p:cNvSpPr>
            <a:spLocks noGrp="1"/>
          </p:cNvSpPr>
          <p:nvPr>
            <p:ph idx="1"/>
          </p:nvPr>
        </p:nvSpPr>
        <p:spPr>
          <a:xfrm>
            <a:off x="838200" y="1267326"/>
            <a:ext cx="10515600" cy="4909637"/>
          </a:xfrm>
        </p:spPr>
        <p:txBody>
          <a:bodyPr/>
          <a:lstStyle/>
          <a:p>
            <a:r>
              <a:rPr lang="en-GB" dirty="0"/>
              <a:t>Link to code in Git-hub Repository</a:t>
            </a:r>
          </a:p>
          <a:p>
            <a:endParaRPr lang="en-GB" dirty="0"/>
          </a:p>
          <a:p>
            <a:endParaRPr lang="en-US" dirty="0"/>
          </a:p>
        </p:txBody>
      </p:sp>
      <p:sp>
        <p:nvSpPr>
          <p:cNvPr id="4" name="Date Placeholder 3">
            <a:extLst>
              <a:ext uri="{FF2B5EF4-FFF2-40B4-BE49-F238E27FC236}">
                <a16:creationId xmlns:a16="http://schemas.microsoft.com/office/drawing/2014/main" id="{C0BC0E82-F7C5-E4B3-8BB9-1583AC631384}"/>
              </a:ext>
            </a:extLst>
          </p:cNvPr>
          <p:cNvSpPr>
            <a:spLocks noGrp="1"/>
          </p:cNvSpPr>
          <p:nvPr>
            <p:ph type="dt" sz="half" idx="10"/>
          </p:nvPr>
        </p:nvSpPr>
        <p:spPr/>
        <p:txBody>
          <a:bodyPr/>
          <a:lstStyle/>
          <a:p>
            <a:fld id="{C5480D13-07B8-4CF5-901F-BD1025D74351}" type="datetime1">
              <a:rPr lang="en-US" smtClean="0"/>
              <a:t>11/2/2025</a:t>
            </a:fld>
            <a:endParaRPr lang="en-US"/>
          </a:p>
        </p:txBody>
      </p:sp>
      <p:sp>
        <p:nvSpPr>
          <p:cNvPr id="5" name="Slide Number Placeholder 4">
            <a:extLst>
              <a:ext uri="{FF2B5EF4-FFF2-40B4-BE49-F238E27FC236}">
                <a16:creationId xmlns:a16="http://schemas.microsoft.com/office/drawing/2014/main" id="{04775014-201C-1110-C957-46A30A1C2417}"/>
              </a:ext>
            </a:extLst>
          </p:cNvPr>
          <p:cNvSpPr>
            <a:spLocks noGrp="1"/>
          </p:cNvSpPr>
          <p:nvPr>
            <p:ph type="sldNum" sz="quarter" idx="12"/>
          </p:nvPr>
        </p:nvSpPr>
        <p:spPr/>
        <p:txBody>
          <a:bodyPr/>
          <a:lstStyle/>
          <a:p>
            <a:fld id="{1FCEF87E-815D-44D1-B0AB-39AF0402D6A8}" type="slidenum">
              <a:rPr lang="en-US" smtClean="0"/>
              <a:t>5</a:t>
            </a:fld>
            <a:endParaRPr lang="en-US"/>
          </a:p>
        </p:txBody>
      </p:sp>
      <p:graphicFrame>
        <p:nvGraphicFramePr>
          <p:cNvPr id="7" name="Table 6">
            <a:extLst>
              <a:ext uri="{FF2B5EF4-FFF2-40B4-BE49-F238E27FC236}">
                <a16:creationId xmlns:a16="http://schemas.microsoft.com/office/drawing/2014/main" id="{ACE64048-76D1-E559-97A6-1E9DA8CC9F64}"/>
              </a:ext>
            </a:extLst>
          </p:cNvPr>
          <p:cNvGraphicFramePr>
            <a:graphicFrameLocks noGrp="1"/>
          </p:cNvGraphicFramePr>
          <p:nvPr>
            <p:extLst>
              <p:ext uri="{D42A27DB-BD31-4B8C-83A1-F6EECF244321}">
                <p14:modId xmlns:p14="http://schemas.microsoft.com/office/powerpoint/2010/main" val="934342584"/>
              </p:ext>
            </p:extLst>
          </p:nvPr>
        </p:nvGraphicFramePr>
        <p:xfrm>
          <a:off x="1854200" y="2205222"/>
          <a:ext cx="8128000" cy="2286000"/>
        </p:xfrm>
        <a:graphic>
          <a:graphicData uri="http://schemas.openxmlformats.org/drawingml/2006/table">
            <a:tbl>
              <a:tblPr firstRow="1" bandRow="1">
                <a:tableStyleId>{21E4AEA4-8DFA-4A89-87EB-49C32662AFE0}</a:tableStyleId>
              </a:tblPr>
              <a:tblGrid>
                <a:gridCol w="4064000">
                  <a:extLst>
                    <a:ext uri="{9D8B030D-6E8A-4147-A177-3AD203B41FA5}">
                      <a16:colId xmlns:a16="http://schemas.microsoft.com/office/drawing/2014/main" val="4052004335"/>
                    </a:ext>
                  </a:extLst>
                </a:gridCol>
                <a:gridCol w="4064000">
                  <a:extLst>
                    <a:ext uri="{9D8B030D-6E8A-4147-A177-3AD203B41FA5}">
                      <a16:colId xmlns:a16="http://schemas.microsoft.com/office/drawing/2014/main" val="1251959847"/>
                    </a:ext>
                  </a:extLst>
                </a:gridCol>
              </a:tblGrid>
              <a:tr h="0">
                <a:tc>
                  <a:txBody>
                    <a:bodyPr/>
                    <a:lstStyle/>
                    <a:p>
                      <a:r>
                        <a:rPr lang="en-GB" dirty="0">
                          <a:solidFill>
                            <a:schemeClr val="tx1"/>
                          </a:solidFill>
                        </a:rPr>
                        <a:t>List</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solidFill>
                            <a:schemeClr val="tx1"/>
                          </a:solidFill>
                        </a:rPr>
                        <a:t>Git-hub Repository Links</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9369799"/>
                  </a:ext>
                </a:extLst>
              </a:tr>
              <a:tr h="370840">
                <a:tc>
                  <a:txBody>
                    <a:bodyPr/>
                    <a:lstStyle/>
                    <a:p>
                      <a:r>
                        <a:rPr lang="en-GB" dirty="0">
                          <a:solidFill>
                            <a:schemeClr val="tx1"/>
                          </a:solidFill>
                        </a:rPr>
                        <a:t>Implementation of Code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solidFill>
                            <a:schemeClr val="tx1"/>
                          </a:solidFill>
                          <a:hlinkClick r:id="rId2" action="ppaction://hlinkfile"/>
                        </a:rPr>
                        <a:t>https://github.com/mithunkumar2006/AI-mini-Project</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6202207"/>
                  </a:ext>
                </a:extLst>
              </a:tr>
              <a:tr h="370840">
                <a:tc>
                  <a:txBody>
                    <a:bodyPr/>
                    <a:lstStyle/>
                    <a:p>
                      <a:r>
                        <a:rPr lang="en-GB" dirty="0">
                          <a:solidFill>
                            <a:schemeClr val="tx1"/>
                          </a:solidFill>
                        </a:rPr>
                        <a:t>Word Document Report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solidFill>
                            <a:schemeClr val="tx1"/>
                          </a:solidFill>
                          <a:hlinkClick r:id="rId3" action="ppaction://hlinkfile"/>
                        </a:rPr>
                        <a:t>https://github.com/mithunkumar2006/AI-mini-Project</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1050083"/>
                  </a:ext>
                </a:extLst>
              </a:tr>
              <a:tr h="370840">
                <a:tc>
                  <a:txBody>
                    <a:bodyPr/>
                    <a:lstStyle/>
                    <a:p>
                      <a:r>
                        <a:rPr lang="en-GB" dirty="0">
                          <a:solidFill>
                            <a:schemeClr val="tx1"/>
                          </a:solidFill>
                        </a:rPr>
                        <a:t>PPT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solidFill>
                            <a:schemeClr val="tx1"/>
                          </a:solidFill>
                          <a:hlinkClick r:id="rId4" action="ppaction://hlinkfile"/>
                        </a:rPr>
                        <a:t>https://github.com/mithunkumar2006/AI-mini-Project</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7241712"/>
                  </a:ext>
                </a:extLst>
              </a:tr>
            </a:tbl>
          </a:graphicData>
        </a:graphic>
      </p:graphicFrame>
    </p:spTree>
    <p:extLst>
      <p:ext uri="{BB962C8B-B14F-4D97-AF65-F5344CB8AC3E}">
        <p14:creationId xmlns:p14="http://schemas.microsoft.com/office/powerpoint/2010/main" val="519586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63ECA-B59E-8742-1165-9911D2A450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0B2EF6-B936-B9EB-24E4-C84A062402DD}"/>
              </a:ext>
            </a:extLst>
          </p:cNvPr>
          <p:cNvSpPr>
            <a:spLocks noGrp="1"/>
          </p:cNvSpPr>
          <p:nvPr>
            <p:ph type="title"/>
          </p:nvPr>
        </p:nvSpPr>
        <p:spPr>
          <a:xfrm>
            <a:off x="0" y="78935"/>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sp>
        <p:nvSpPr>
          <p:cNvPr id="4" name="Date Placeholder 3">
            <a:extLst>
              <a:ext uri="{FF2B5EF4-FFF2-40B4-BE49-F238E27FC236}">
                <a16:creationId xmlns:a16="http://schemas.microsoft.com/office/drawing/2014/main" id="{04773938-5370-329C-27AB-D82ECB9D7128}"/>
              </a:ext>
            </a:extLst>
          </p:cNvPr>
          <p:cNvSpPr>
            <a:spLocks noGrp="1"/>
          </p:cNvSpPr>
          <p:nvPr>
            <p:ph type="dt" sz="half" idx="10"/>
          </p:nvPr>
        </p:nvSpPr>
        <p:spPr/>
        <p:txBody>
          <a:bodyPr/>
          <a:lstStyle/>
          <a:p>
            <a:fld id="{C5480D13-07B8-4CF5-901F-BD1025D74351}" type="datetime1">
              <a:rPr lang="en-US" smtClean="0"/>
              <a:t>11/2/2025</a:t>
            </a:fld>
            <a:endParaRPr lang="en-US"/>
          </a:p>
        </p:txBody>
      </p:sp>
      <p:sp>
        <p:nvSpPr>
          <p:cNvPr id="5" name="Slide Number Placeholder 4">
            <a:extLst>
              <a:ext uri="{FF2B5EF4-FFF2-40B4-BE49-F238E27FC236}">
                <a16:creationId xmlns:a16="http://schemas.microsoft.com/office/drawing/2014/main" id="{E8A83B3C-8735-B8FC-8D50-B919B3471343}"/>
              </a:ext>
            </a:extLst>
          </p:cNvPr>
          <p:cNvSpPr>
            <a:spLocks noGrp="1"/>
          </p:cNvSpPr>
          <p:nvPr>
            <p:ph type="sldNum" sz="quarter" idx="12"/>
          </p:nvPr>
        </p:nvSpPr>
        <p:spPr/>
        <p:txBody>
          <a:bodyPr/>
          <a:lstStyle/>
          <a:p>
            <a:fld id="{1FCEF87E-815D-44D1-B0AB-39AF0402D6A8}" type="slidenum">
              <a:rPr lang="en-US" smtClean="0"/>
              <a:t>6</a:t>
            </a:fld>
            <a:endParaRPr lang="en-US"/>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13703" y="812292"/>
            <a:ext cx="6764594" cy="2946551"/>
          </a:xfr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3703" y="3758843"/>
            <a:ext cx="6764594" cy="3050461"/>
          </a:xfrm>
          <a:prstGeom prst="rect">
            <a:avLst/>
          </a:prstGeom>
        </p:spPr>
      </p:pic>
    </p:spTree>
    <p:extLst>
      <p:ext uri="{BB962C8B-B14F-4D97-AF65-F5344CB8AC3E}">
        <p14:creationId xmlns:p14="http://schemas.microsoft.com/office/powerpoint/2010/main" val="1263363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EA9EE-5679-A557-E7BF-0A904D0977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BF6077-2697-7116-5A2C-99B8054B7FE2}"/>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REFERENCES</a:t>
            </a:r>
            <a:endParaRPr lang="en-US" dirty="0">
              <a:solidFill>
                <a:schemeClr val="tx1"/>
              </a:solidFill>
            </a:endParaRPr>
          </a:p>
        </p:txBody>
      </p:sp>
      <p:sp>
        <p:nvSpPr>
          <p:cNvPr id="3" name="Content Placeholder 2">
            <a:extLst>
              <a:ext uri="{FF2B5EF4-FFF2-40B4-BE49-F238E27FC236}">
                <a16:creationId xmlns:a16="http://schemas.microsoft.com/office/drawing/2014/main" id="{D3AB1971-AF7F-80EE-26ED-EA8A7E8C7C21}"/>
              </a:ext>
            </a:extLst>
          </p:cNvPr>
          <p:cNvSpPr>
            <a:spLocks noGrp="1"/>
          </p:cNvSpPr>
          <p:nvPr>
            <p:ph idx="1"/>
          </p:nvPr>
        </p:nvSpPr>
        <p:spPr>
          <a:xfrm>
            <a:off x="317634" y="1267326"/>
            <a:ext cx="11646568" cy="5412607"/>
          </a:xfrm>
        </p:spPr>
        <p:txBody>
          <a:bodyPr>
            <a:normAutofit/>
          </a:bodyPr>
          <a:lstStyle/>
          <a:p>
            <a:pPr lvl="0" fontAlgn="base"/>
            <a:r>
              <a:rPr lang="en-IN" dirty="0"/>
              <a:t>Russell, S., &amp; </a:t>
            </a:r>
            <a:r>
              <a:rPr lang="en-IN" dirty="0" err="1"/>
              <a:t>Norvig</a:t>
            </a:r>
            <a:r>
              <a:rPr lang="en-IN" dirty="0"/>
              <a:t>, P. (2021). </a:t>
            </a:r>
            <a:r>
              <a:rPr lang="en-IN" i="1" dirty="0"/>
              <a:t>Artificial Intelligence: A Modern Approach (4th ed.).</a:t>
            </a:r>
            <a:r>
              <a:rPr lang="en-IN" dirty="0"/>
              <a:t> Pearson Education.</a:t>
            </a:r>
          </a:p>
          <a:p>
            <a:pPr lvl="0" fontAlgn="base"/>
            <a:r>
              <a:rPr lang="en-IN" dirty="0" err="1"/>
              <a:t>Géron</a:t>
            </a:r>
            <a:r>
              <a:rPr lang="en-IN" dirty="0"/>
              <a:t>, A. (2019). </a:t>
            </a:r>
            <a:r>
              <a:rPr lang="en-IN" i="1" dirty="0"/>
              <a:t>Hands-On Machine Learning with </a:t>
            </a:r>
            <a:r>
              <a:rPr lang="en-IN" i="1" dirty="0" err="1"/>
              <a:t>Scikit</a:t>
            </a:r>
            <a:r>
              <a:rPr lang="en-IN" i="1" dirty="0"/>
              <a:t>-Learn, </a:t>
            </a:r>
            <a:r>
              <a:rPr lang="en-IN" i="1" dirty="0" err="1"/>
              <a:t>Keras</a:t>
            </a:r>
            <a:r>
              <a:rPr lang="en-IN" i="1" dirty="0"/>
              <a:t>, and </a:t>
            </a:r>
            <a:r>
              <a:rPr lang="en-IN" i="1" dirty="0" err="1"/>
              <a:t>TensorFlow</a:t>
            </a:r>
            <a:r>
              <a:rPr lang="en-IN" i="1" dirty="0"/>
              <a:t>.</a:t>
            </a:r>
            <a:r>
              <a:rPr lang="en-IN" dirty="0"/>
              <a:t> O’Reilly Media.</a:t>
            </a:r>
          </a:p>
          <a:p>
            <a:pPr lvl="0" fontAlgn="base"/>
            <a:r>
              <a:rPr lang="en-IN" dirty="0"/>
              <a:t>Han, J., </a:t>
            </a:r>
            <a:r>
              <a:rPr lang="en-IN" dirty="0" err="1"/>
              <a:t>Kamber</a:t>
            </a:r>
            <a:r>
              <a:rPr lang="en-IN" dirty="0"/>
              <a:t>, M., &amp; Pei, J. (2011). </a:t>
            </a:r>
            <a:r>
              <a:rPr lang="en-IN" i="1" dirty="0"/>
              <a:t>Data Mining: Concepts and Techniques (3rd ed.).</a:t>
            </a:r>
            <a:r>
              <a:rPr lang="en-IN" dirty="0"/>
              <a:t> Morgan Kaufmann Publishers.</a:t>
            </a:r>
          </a:p>
          <a:p>
            <a:pPr lvl="0" fontAlgn="base"/>
            <a:r>
              <a:rPr lang="en-IN" dirty="0"/>
              <a:t>"</a:t>
            </a:r>
            <a:r>
              <a:rPr lang="en-IN" dirty="0" err="1"/>
              <a:t>Scikit</a:t>
            </a:r>
            <a:r>
              <a:rPr lang="en-IN" dirty="0"/>
              <a:t>-Learn User Guide" – </a:t>
            </a:r>
            <a:r>
              <a:rPr lang="en-IN" i="1" dirty="0"/>
              <a:t>Machine Learning in Python</a:t>
            </a:r>
            <a:r>
              <a:rPr lang="en-IN" dirty="0"/>
              <a:t>, </a:t>
            </a:r>
            <a:r>
              <a:rPr lang="en-IN" dirty="0">
                <a:hlinkClick r:id="rId2"/>
              </a:rPr>
              <a:t>https://scikit-learn.org</a:t>
            </a:r>
            <a:endParaRPr lang="en-IN" dirty="0"/>
          </a:p>
          <a:p>
            <a:r>
              <a:rPr lang="en-IN" dirty="0"/>
              <a:t>Witten, I. H., Frank, E., Hall, M. A., &amp; Pal, C. J. (2016). </a:t>
            </a:r>
            <a:r>
              <a:rPr lang="en-IN" i="1" dirty="0"/>
              <a:t>Data Mining: Practical Machine Learning Tools and Techniques (4th ed.).</a:t>
            </a:r>
            <a:r>
              <a:rPr lang="en-IN" dirty="0"/>
              <a:t> Morgan Kaufmann</a:t>
            </a:r>
            <a:r>
              <a:rPr lang="en-IN" dirty="0" smtClean="0"/>
              <a:t>.</a:t>
            </a:r>
            <a:endParaRPr lang="en-IN" dirty="0"/>
          </a:p>
          <a:p>
            <a:pPr lvl="0"/>
            <a:endParaRPr lang="en-US" dirty="0"/>
          </a:p>
        </p:txBody>
      </p:sp>
      <p:sp>
        <p:nvSpPr>
          <p:cNvPr id="4" name="Date Placeholder 3">
            <a:extLst>
              <a:ext uri="{FF2B5EF4-FFF2-40B4-BE49-F238E27FC236}">
                <a16:creationId xmlns:a16="http://schemas.microsoft.com/office/drawing/2014/main" id="{418721BC-42E2-4822-3086-5AF81F1A3726}"/>
              </a:ext>
            </a:extLst>
          </p:cNvPr>
          <p:cNvSpPr>
            <a:spLocks noGrp="1"/>
          </p:cNvSpPr>
          <p:nvPr>
            <p:ph type="dt" sz="half" idx="10"/>
          </p:nvPr>
        </p:nvSpPr>
        <p:spPr/>
        <p:txBody>
          <a:bodyPr/>
          <a:lstStyle/>
          <a:p>
            <a:fld id="{C5480D13-07B8-4CF5-901F-BD1025D74351}" type="datetime1">
              <a:rPr lang="en-US" smtClean="0"/>
              <a:t>11/2/2025</a:t>
            </a:fld>
            <a:endParaRPr lang="en-US"/>
          </a:p>
        </p:txBody>
      </p:sp>
      <p:sp>
        <p:nvSpPr>
          <p:cNvPr id="5" name="Slide Number Placeholder 4">
            <a:extLst>
              <a:ext uri="{FF2B5EF4-FFF2-40B4-BE49-F238E27FC236}">
                <a16:creationId xmlns:a16="http://schemas.microsoft.com/office/drawing/2014/main" id="{60D8BC28-15FA-0C88-32FB-88458DEBBC23}"/>
              </a:ext>
            </a:extLst>
          </p:cNvPr>
          <p:cNvSpPr>
            <a:spLocks noGrp="1"/>
          </p:cNvSpPr>
          <p:nvPr>
            <p:ph type="sldNum" sz="quarter" idx="12"/>
          </p:nvPr>
        </p:nvSpPr>
        <p:spPr/>
        <p:txBody>
          <a:bodyPr/>
          <a:lstStyle/>
          <a:p>
            <a:fld id="{1FCEF87E-815D-44D1-B0AB-39AF0402D6A8}" type="slidenum">
              <a:rPr lang="en-US" smtClean="0"/>
              <a:t>7</a:t>
            </a:fld>
            <a:endParaRPr lang="en-US"/>
          </a:p>
        </p:txBody>
      </p:sp>
    </p:spTree>
    <p:extLst>
      <p:ext uri="{BB962C8B-B14F-4D97-AF65-F5344CB8AC3E}">
        <p14:creationId xmlns:p14="http://schemas.microsoft.com/office/powerpoint/2010/main" val="7526071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1516</TotalTime>
  <Words>270</Words>
  <Application>Microsoft Office PowerPoint</Application>
  <PresentationFormat>Widescreen</PresentationFormat>
  <Paragraphs>79</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Calibri</vt:lpstr>
      <vt:lpstr>Calibri Light</vt:lpstr>
      <vt:lpstr>Courier New</vt:lpstr>
      <vt:lpstr>Times New Roman</vt:lpstr>
      <vt:lpstr>Wingdings</vt:lpstr>
      <vt:lpstr>Office Theme</vt:lpstr>
      <vt:lpstr>DEPARTMENT OF ARTIFICIAL INTELLIGENCE AND DATA SCIENCE ACADEMIC YEAR 2025 - 2026 SEMESTER III ARTIFICIAL INTELLIGENCE LABORATORY  MINI PROJECT REVIEW   STUDENT PERFORMANCE PREDICTION</vt:lpstr>
      <vt:lpstr>PROBLEM STATEMENT</vt:lpstr>
      <vt:lpstr>THEORETICAL BACKGROUND</vt:lpstr>
      <vt:lpstr> EXPLANATION OF ALGORITHM</vt:lpstr>
      <vt:lpstr>IMPLEMENTATION AND CODE</vt:lpstr>
      <vt:lpstr>OUTPUT AND RESULTS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ARTIFICIAL INTELLIGENCE AND DATA SCIENCE ACADEMIC YEAR 2025 - 2026 SEMESTER III ARTIFICIAL INTELLIGENCE LABORATORY  MINI PROJECT REVIEW   &lt;TITLE OF THE PROJECT&gt;</dc:title>
  <dc:creator>SANKAR GANESH K</dc:creator>
  <cp:lastModifiedBy>mithu</cp:lastModifiedBy>
  <cp:revision>16</cp:revision>
  <dcterms:created xsi:type="dcterms:W3CDTF">2025-10-18T08:57:34Z</dcterms:created>
  <dcterms:modified xsi:type="dcterms:W3CDTF">2025-11-02T09:26:10Z</dcterms:modified>
</cp:coreProperties>
</file>